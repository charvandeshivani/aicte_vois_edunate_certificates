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5"/>
  </p:notesMasterIdLst>
  <p:handoutMasterIdLst>
    <p:handoutMasterId r:id="rId16"/>
  </p:handoutMasterIdLst>
  <p:sldIdLst>
    <p:sldId id="338" r:id="rId5"/>
    <p:sldId id="327" r:id="rId6"/>
    <p:sldId id="315" r:id="rId7"/>
    <p:sldId id="341" r:id="rId8"/>
    <p:sldId id="342" r:id="rId9"/>
    <p:sldId id="329" r:id="rId10"/>
    <p:sldId id="343" r:id="rId11"/>
    <p:sldId id="339" r:id="rId12"/>
    <p:sldId id="345" r:id="rId13"/>
    <p:sldId id="30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199ADC-BDBD-4CE1-AF76-390CE04A14D2}" v="461" dt="2026-09-02T15:09:40.158"/>
    <p1510:client id="{B6EBB48E-3FFB-4332-8F1C-07D9287A962C}" v="237" dt="2026-09-01T18:27:04.473"/>
    <p1510:client id="{C3C0A4AF-356F-4F7A-BE2C-DE2427333BB6}" v="88" dt="2026-09-02T16:43:43.98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harvandeshivani.github.io/Airbnb-Hotel-Booking-Analysis_project/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86551" y="4548941"/>
            <a:ext cx="4318971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Charvande Shivani </a:t>
            </a:r>
            <a:r>
              <a:rPr lang="en-US" b="0" dirty="0" err="1">
                <a:solidFill>
                  <a:schemeClr val="tx1"/>
                </a:solidFill>
              </a:rPr>
              <a:t>Radhakisan</a:t>
            </a:r>
            <a:r>
              <a:rPr lang="en-US" b="0" dirty="0">
                <a:solidFill>
                  <a:schemeClr val="tx1"/>
                </a:solidFill>
              </a:rPr>
              <a:t> 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665" y="3059082"/>
            <a:ext cx="7151629" cy="74344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400" dirty="0"/>
              <a:t>Project </a:t>
            </a:r>
            <a:r>
              <a:rPr lang="en-GB" dirty="0"/>
              <a:t>Title </a:t>
            </a:r>
            <a:r>
              <a:rPr lang="en-GB" sz="2400" dirty="0"/>
              <a:t>-</a:t>
            </a:r>
            <a:r>
              <a:rPr lang="en-GB" sz="2400" dirty="0">
                <a:solidFill>
                  <a:srgbClr val="18113C"/>
                </a:solidFill>
                <a:highlight>
                  <a:srgbClr val="FFFFFF"/>
                </a:highlight>
                <a:latin typeface="Trebuchet MS"/>
                <a:cs typeface="Poppins"/>
              </a:rPr>
              <a:t>Airbnb Hotel Booking Analysis</a:t>
            </a:r>
            <a:endParaRPr lang="en-US" sz="2400" dirty="0">
              <a:latin typeface="Trebuchet MS"/>
            </a:endParaRPr>
          </a:p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4217372" y="3951149"/>
            <a:ext cx="626918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/>
              <a:t>AICTE STU ID:</a:t>
            </a: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STU698ee416d64e61770972182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2180" y="1454338"/>
            <a:ext cx="8845005" cy="52086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 dirty="0">
                <a:ea typeface="+mn-lt"/>
                <a:cs typeface="+mn-lt"/>
              </a:rPr>
              <a:t>Airbnb generates a large amount of data related to properties, hosts, prices, reviews, availability, and locations. Analysing this data can help identify the major factors that influence listing performance and Guest satisfaction.</a:t>
            </a:r>
            <a:endParaRPr lang="en-US" dirty="0">
              <a:ea typeface="+mn-lt"/>
              <a:cs typeface="+mn-lt"/>
            </a:endParaRPr>
          </a:p>
          <a:p>
            <a:r>
              <a:rPr lang="en-IN" sz="1800" dirty="0">
                <a:ea typeface="+mn-lt"/>
                <a:cs typeface="+mn-lt"/>
              </a:rPr>
              <a:t>This project analyses </a:t>
            </a:r>
            <a:r>
              <a:rPr lang="en-IN" sz="1800" b="1" dirty="0">
                <a:ea typeface="+mn-lt"/>
                <a:cs typeface="+mn-lt"/>
              </a:rPr>
              <a:t>New York City Airbnb listings</a:t>
            </a:r>
            <a:r>
              <a:rPr lang="en-IN" sz="1800" dirty="0">
                <a:ea typeface="+mn-lt"/>
                <a:cs typeface="+mn-lt"/>
              </a:rPr>
              <a:t> to identify: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IN" dirty="0">
                <a:ea typeface="+mn-lt"/>
                <a:cs typeface="+mn-lt"/>
              </a:rPr>
              <a:t>Popular neighbourhoods and room types</a:t>
            </a:r>
          </a:p>
          <a:p>
            <a:pPr lvl="1"/>
            <a:r>
              <a:rPr lang="en-IN" dirty="0">
                <a:ea typeface="+mn-lt"/>
                <a:cs typeface="+mn-lt"/>
              </a:rPr>
              <a:t>Pricing patterns across locations</a:t>
            </a:r>
          </a:p>
          <a:p>
            <a:pPr lvl="1"/>
            <a:r>
              <a:rPr lang="en-IN" dirty="0">
                <a:ea typeface="+mn-lt"/>
                <a:cs typeface="+mn-lt"/>
              </a:rPr>
              <a:t>Host performance and verification</a:t>
            </a:r>
          </a:p>
          <a:p>
            <a:pPr lvl="1"/>
            <a:r>
              <a:rPr lang="en-IN" dirty="0">
                <a:ea typeface="+mn-lt"/>
                <a:cs typeface="+mn-lt"/>
              </a:rPr>
              <a:t>Review ratings and guest preferences</a:t>
            </a:r>
            <a:endParaRPr lang="en-IN" dirty="0"/>
          </a:p>
          <a:p>
            <a:pPr lvl="1"/>
            <a:r>
              <a:rPr lang="en-IN" dirty="0">
                <a:ea typeface="+mn-lt"/>
                <a:cs typeface="+mn-lt"/>
              </a:rPr>
              <a:t>Relationship between price, service fee, and availability</a:t>
            </a:r>
          </a:p>
          <a:p>
            <a:r>
              <a:rPr lang="en-IN" sz="1800" b="1" dirty="0">
                <a:ea typeface="+mn-lt"/>
                <a:cs typeface="+mn-lt"/>
              </a:rPr>
              <a:t>Goal:</a:t>
            </a:r>
            <a:r>
              <a:rPr lang="en-IN" sz="1800" dirty="0">
                <a:ea typeface="+mn-lt"/>
                <a:cs typeface="+mn-lt"/>
              </a:rPr>
              <a:t> To generate data-driven insights that help </a:t>
            </a:r>
            <a:r>
              <a:rPr lang="en-IN" sz="1800" b="1" dirty="0">
                <a:ea typeface="+mn-lt"/>
                <a:cs typeface="+mn-lt"/>
              </a:rPr>
              <a:t>hosts optimize listings and improve guest experience</a:t>
            </a:r>
            <a:r>
              <a:rPr lang="en-IN" sz="1800" dirty="0">
                <a:ea typeface="+mn-lt"/>
                <a:cs typeface="+mn-lt"/>
              </a:rPr>
              <a:t>.</a:t>
            </a:r>
          </a:p>
          <a:p>
            <a:endParaRPr lang="en-IN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328" y="268581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191" y="2983026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898" y="581095"/>
            <a:ext cx="7811315" cy="89823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4300" dirty="0">
                <a:ea typeface="+mj-lt"/>
                <a:cs typeface="+mj-lt"/>
              </a:rPr>
              <a:t>PROJECT DESCRICTION</a:t>
            </a:r>
            <a:br>
              <a:rPr lang="en-GB" sz="1800" b="0" dirty="0">
                <a:ea typeface="+mj-lt"/>
                <a:cs typeface="+mj-lt"/>
              </a:rPr>
            </a:br>
            <a:br>
              <a:rPr lang="en-GB" sz="1800" b="0" dirty="0">
                <a:ea typeface="+mj-lt"/>
                <a:cs typeface="+mj-lt"/>
              </a:rPr>
            </a:br>
            <a:r>
              <a:rPr lang="en-GB" sz="1800" b="0" dirty="0">
                <a:ea typeface="+mj-lt"/>
                <a:cs typeface="+mj-lt"/>
              </a:rPr>
              <a:t>The Airbnb Hotel Booking Analysis project uses an Airbnb Open Data dataset containing 102,599 listings and 26 attributes.</a:t>
            </a:r>
            <a:endParaRPr lang="en-US" sz="1800"/>
          </a:p>
          <a:p>
            <a:r>
              <a:rPr lang="en-GB" sz="1800" b="0" dirty="0">
                <a:ea typeface="+mj-lt"/>
                <a:cs typeface="+mj-lt"/>
              </a:rPr>
              <a:t>The analysis involves:</a:t>
            </a:r>
            <a:br>
              <a:rPr lang="en-GB" sz="1800" dirty="0"/>
            </a:br>
            <a:endParaRPr lang="en-GB" sz="1800" dirty="0"/>
          </a:p>
          <a:p>
            <a:pPr marL="342900" indent="-342900">
              <a:buFont typeface="Arial"/>
              <a:buChar char="•"/>
            </a:pPr>
            <a:r>
              <a:rPr lang="en-GB" sz="1800" dirty="0">
                <a:ea typeface="+mj-lt"/>
                <a:cs typeface="+mj-lt"/>
              </a:rPr>
              <a:t>Data Collection</a:t>
            </a:r>
            <a:r>
              <a:rPr lang="en-GB" sz="1800" b="0" dirty="0">
                <a:ea typeface="+mj-lt"/>
                <a:cs typeface="+mj-lt"/>
              </a:rPr>
              <a:t> – Importing the Airbnb dataset. </a:t>
            </a:r>
            <a:endParaRPr lang="en-GB" sz="1800" dirty="0"/>
          </a:p>
          <a:p>
            <a:pPr marL="342900" indent="-342900">
              <a:buFont typeface="Arial"/>
              <a:buChar char="•"/>
            </a:pPr>
            <a:r>
              <a:rPr lang="en-GB" sz="1800" dirty="0">
                <a:ea typeface="+mj-lt"/>
                <a:cs typeface="+mj-lt"/>
              </a:rPr>
              <a:t>Data Wrangling</a:t>
            </a:r>
            <a:r>
              <a:rPr lang="en-GB" sz="1800" b="0" dirty="0">
                <a:ea typeface="+mj-lt"/>
                <a:cs typeface="+mj-lt"/>
              </a:rPr>
              <a:t> – Handling missing values, inconsistent values,     and data types. </a:t>
            </a:r>
            <a:endParaRPr lang="en-GB" sz="1800" dirty="0"/>
          </a:p>
          <a:p>
            <a:pPr marL="342900" indent="-342900">
              <a:buFont typeface="Arial"/>
              <a:buChar char="•"/>
            </a:pPr>
            <a:r>
              <a:rPr lang="en-GB" sz="1800" dirty="0">
                <a:ea typeface="+mj-lt"/>
                <a:cs typeface="+mj-lt"/>
              </a:rPr>
              <a:t>Exploratory Data Analysis</a:t>
            </a:r>
            <a:r>
              <a:rPr lang="en-GB" sz="1800" b="0" dirty="0">
                <a:ea typeface="+mj-lt"/>
                <a:cs typeface="+mj-lt"/>
              </a:rPr>
              <a:t> – Examining prices, reviews, locations, room types, and hosts. </a:t>
            </a:r>
            <a:endParaRPr lang="en-GB" sz="1800" dirty="0"/>
          </a:p>
          <a:p>
            <a:pPr marL="342900" indent="-342900">
              <a:buFont typeface="Arial"/>
              <a:buChar char="•"/>
            </a:pPr>
            <a:r>
              <a:rPr lang="en-GB" sz="1800" dirty="0">
                <a:ea typeface="+mj-lt"/>
                <a:cs typeface="+mj-lt"/>
              </a:rPr>
              <a:t>Data Visualization</a:t>
            </a:r>
            <a:r>
              <a:rPr lang="en-GB" sz="1800" b="0" dirty="0">
                <a:ea typeface="+mj-lt"/>
                <a:cs typeface="+mj-lt"/>
              </a:rPr>
              <a:t> – Creating charts and graphs to identify patterns. </a:t>
            </a:r>
            <a:endParaRPr lang="en-GB" sz="1800" dirty="0"/>
          </a:p>
          <a:p>
            <a:pPr marL="342900" indent="-342900">
              <a:buFont typeface="Arial"/>
              <a:buChar char="•"/>
            </a:pPr>
            <a:r>
              <a:rPr lang="en-GB" sz="1800" dirty="0">
                <a:ea typeface="+mj-lt"/>
                <a:cs typeface="+mj-lt"/>
              </a:rPr>
              <a:t>Correlation Analysis</a:t>
            </a:r>
            <a:r>
              <a:rPr lang="en-GB" sz="1800" b="0" dirty="0">
                <a:ea typeface="+mj-lt"/>
                <a:cs typeface="+mj-lt"/>
              </a:rPr>
              <a:t> – Studying relationships between numerical variables. </a:t>
            </a:r>
            <a:endParaRPr lang="en-GB" sz="1800" dirty="0"/>
          </a:p>
          <a:p>
            <a:pPr marL="342900" indent="-342900">
              <a:buFont typeface="Arial"/>
              <a:buChar char="•"/>
            </a:pPr>
            <a:r>
              <a:rPr lang="en-GB" sz="1800" dirty="0">
                <a:ea typeface="+mj-lt"/>
                <a:cs typeface="+mj-lt"/>
              </a:rPr>
              <a:t>Insight Generation</a:t>
            </a:r>
            <a:r>
              <a:rPr lang="en-GB" sz="1800" b="0" dirty="0">
                <a:ea typeface="+mj-lt"/>
                <a:cs typeface="+mj-lt"/>
              </a:rPr>
              <a:t> – Extracting useful business insights and recommendations. </a:t>
            </a:r>
            <a:endParaRPr lang="en-GB" sz="1800" dirty="0"/>
          </a:p>
          <a:p>
            <a:pPr marL="342900" indent="-342900">
              <a:buFont typeface="Arial"/>
              <a:buChar char="•"/>
            </a:pPr>
            <a:r>
              <a:rPr lang="en-GB" sz="1800" dirty="0">
                <a:ea typeface="+mj-lt"/>
                <a:cs typeface="+mj-lt"/>
              </a:rPr>
              <a:t>Tools Used:</a:t>
            </a:r>
            <a:r>
              <a:rPr lang="en-GB" sz="1800" b="0" dirty="0">
                <a:ea typeface="+mj-lt"/>
                <a:cs typeface="+mj-lt"/>
              </a:rPr>
              <a:t> Excel / Python / Pandas / Matplotlib / Seaborn / Power BI </a:t>
            </a:r>
            <a:endParaRPr lang="en-GB" sz="1800" b="0" dirty="0"/>
          </a:p>
          <a:p>
            <a:endParaRPr lang="en-GB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35C660-D1D7-DC5B-35C5-BE504C2974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025495"/>
              </p:ext>
            </p:extLst>
          </p:nvPr>
        </p:nvGraphicFramePr>
        <p:xfrm>
          <a:off x="626301" y="1597068"/>
          <a:ext cx="10469378" cy="4205474"/>
        </p:xfrm>
        <a:graphic>
          <a:graphicData uri="http://schemas.openxmlformats.org/drawingml/2006/table">
            <a:tbl>
              <a:tblPr bandRow="1">
                <a:tableStyleId>{6E25E649-3F16-4E02-A733-19D2CDBF48F0}</a:tableStyleId>
              </a:tblPr>
              <a:tblGrid>
                <a:gridCol w="5234689">
                  <a:extLst>
                    <a:ext uri="{9D8B030D-6E8A-4147-A177-3AD203B41FA5}">
                      <a16:colId xmlns:a16="http://schemas.microsoft.com/office/drawing/2014/main" val="880044743"/>
                    </a:ext>
                  </a:extLst>
                </a:gridCol>
                <a:gridCol w="5234689">
                  <a:extLst>
                    <a:ext uri="{9D8B030D-6E8A-4147-A177-3AD203B41FA5}">
                      <a16:colId xmlns:a16="http://schemas.microsoft.com/office/drawing/2014/main" val="3480792567"/>
                    </a:ext>
                  </a:extLst>
                </a:gridCol>
              </a:tblGrid>
              <a:tr h="3915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011650"/>
                  </a:ext>
                </a:extLst>
              </a:tr>
              <a:tr h="391544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541116"/>
                  </a:ext>
                </a:extLst>
              </a:tr>
              <a:tr h="3915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983199"/>
                  </a:ext>
                </a:extLst>
              </a:tr>
              <a:tr h="3915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645210"/>
                  </a:ext>
                </a:extLst>
              </a:tr>
              <a:tr h="3915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012843"/>
                  </a:ext>
                </a:extLst>
              </a:tr>
              <a:tr h="3915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045979"/>
                  </a:ext>
                </a:extLst>
              </a:tr>
              <a:tr h="3915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534551"/>
                  </a:ext>
                </a:extLst>
              </a:tr>
              <a:tr h="3915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708661"/>
                  </a:ext>
                </a:extLst>
              </a:tr>
              <a:tr h="3915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417772"/>
                  </a:ext>
                </a:extLst>
              </a:tr>
              <a:tr h="68157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241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617652-6D6D-213E-CEC7-F2A42CFEB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805630"/>
              </p:ext>
            </p:extLst>
          </p:nvPr>
        </p:nvGraphicFramePr>
        <p:xfrm>
          <a:off x="212912" y="1592580"/>
          <a:ext cx="10888716" cy="3669699"/>
        </p:xfrm>
        <a:graphic>
          <a:graphicData uri="http://schemas.openxmlformats.org/drawingml/2006/table">
            <a:tbl>
              <a:tblPr bandRow="1">
                <a:tableStyleId>{6E25E649-3F16-4E02-A733-19D2CDBF48F0}</a:tableStyleId>
              </a:tblPr>
              <a:tblGrid>
                <a:gridCol w="5444358">
                  <a:extLst>
                    <a:ext uri="{9D8B030D-6E8A-4147-A177-3AD203B41FA5}">
                      <a16:colId xmlns:a16="http://schemas.microsoft.com/office/drawing/2014/main" val="775676436"/>
                    </a:ext>
                  </a:extLst>
                </a:gridCol>
                <a:gridCol w="5444358">
                  <a:extLst>
                    <a:ext uri="{9D8B030D-6E8A-4147-A177-3AD203B41FA5}">
                      <a16:colId xmlns:a16="http://schemas.microsoft.com/office/drawing/2014/main" val="4006791896"/>
                    </a:ext>
                  </a:extLst>
                </a:gridCol>
              </a:tblGrid>
              <a:tr h="376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Attribute                            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Details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271024"/>
                  </a:ext>
                </a:extLst>
              </a:tr>
              <a:tr h="376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Total Records                     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102,599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901371"/>
                  </a:ext>
                </a:extLst>
              </a:tr>
              <a:tr h="376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Total Columns           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159927"/>
                  </a:ext>
                </a:extLst>
              </a:tr>
              <a:tr h="376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Location                             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York 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620728"/>
                  </a:ext>
                </a:extLst>
              </a:tr>
              <a:tr h="376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Main Entities                      -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Listings, Hosts, Neighborhoods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857978"/>
                  </a:ext>
                </a:extLst>
              </a:tr>
              <a:tr h="376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Room Types                        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828525"/>
                  </a:ext>
                </a:extLst>
              </a:tr>
              <a:tr h="376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Major Variables                   -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Price, Service Fee, Reviews, Availability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654298"/>
                  </a:ext>
                </a:extLst>
              </a:tr>
              <a:tr h="376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Host Variables                    -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Host Identity, Host Listing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210430"/>
                  </a:ext>
                </a:extLst>
              </a:tr>
              <a:tr h="65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Location Variables              -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Neighborhood Group, Neighborhood, Latitude, Longitude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06774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7ECBF92-BA1B-6692-F77C-E579402E7927}"/>
              </a:ext>
            </a:extLst>
          </p:cNvPr>
          <p:cNvSpPr txBox="1"/>
          <p:nvPr/>
        </p:nvSpPr>
        <p:spPr>
          <a:xfrm>
            <a:off x="425824" y="515471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/>
              <a:t>Dataset Overview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08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EB6638-30F2-70D9-10CE-93F6C2BEDA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0277" y="232418"/>
            <a:ext cx="9243795" cy="35607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Data Wrangling</a:t>
            </a:r>
            <a:endParaRPr lang="en-US" sz="2400" b="1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Data wrangling was performed to make the raw Airbnb data suitable for analysis.</a:t>
            </a:r>
            <a:endParaRPr lang="en-US" sz="160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Major Steps:</a:t>
            </a:r>
            <a:endParaRPr lang="en-US" b="1"/>
          </a:p>
          <a:p>
            <a:r>
              <a:rPr lang="en-US" sz="1600" dirty="0">
                <a:ea typeface="+mn-lt"/>
                <a:cs typeface="+mn-lt"/>
              </a:rPr>
              <a:t>Identified missing values. 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Checked duplicate and inconsistent records. 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Converted numerical columns into appropriate numeric formats. 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Standardized neighborhood group values. 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Handled missing review and host information. 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Examined outliers in price and availability. 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Prepared Ahe cleaned dataset for visualization and analysis. </a:t>
            </a:r>
            <a:endParaRPr lang="en-US" sz="1600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Examples of Data Issues Identified:</a:t>
            </a:r>
            <a:endParaRPr lang="en-US"/>
          </a:p>
          <a:p>
            <a:r>
              <a:rPr lang="en-US" sz="1600" dirty="0">
                <a:ea typeface="+mn-lt"/>
                <a:cs typeface="+mn-lt"/>
              </a:rPr>
              <a:t>Missing listing names 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Missing host identity information 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Missing review information 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Missing license information 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Inconsistent neighborhood names such as </a:t>
            </a:r>
            <a:r>
              <a:rPr lang="en-US" sz="1600" dirty="0">
                <a:latin typeface="Trebuchet MS"/>
              </a:rPr>
              <a:t>brookln</a:t>
            </a:r>
            <a:r>
              <a:rPr lang="en-US" sz="1600" dirty="0">
                <a:ea typeface="+mn-lt"/>
                <a:cs typeface="+mn-lt"/>
              </a:rPr>
              <a:t> and </a:t>
            </a:r>
            <a:r>
              <a:rPr lang="en-US" sz="1600" dirty="0">
                <a:latin typeface="Trebuchet MS"/>
              </a:rPr>
              <a:t>manhatan</a:t>
            </a:r>
            <a:r>
              <a:rPr lang="en-US" sz="1600" dirty="0">
                <a:ea typeface="+mn-lt"/>
                <a:cs typeface="+mn-lt"/>
              </a:rPr>
              <a:t> </a:t>
            </a:r>
            <a:endParaRPr lang="en-US" sz="160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09524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722419"/>
            <a:ext cx="7904481" cy="42589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IN" sz="1600" b="1" dirty="0"/>
              <a:t>1. Airbnb Hosts</a:t>
            </a:r>
            <a:endParaRPr lang="en-US" sz="1600" b="1"/>
          </a:p>
          <a:p>
            <a:pPr marL="0" indent="0" algn="just">
              <a:buNone/>
            </a:pPr>
            <a:r>
              <a:rPr lang="en-IN" sz="1600" dirty="0">
                <a:ea typeface="+mn-lt"/>
                <a:cs typeface="+mn-lt"/>
              </a:rPr>
              <a:t>   Can use the analysis to optimize pricing, availability, and listing strategies.</a:t>
            </a:r>
          </a:p>
          <a:p>
            <a:pPr marL="0" indent="0" algn="just">
              <a:buNone/>
            </a:pPr>
            <a:r>
              <a:rPr lang="en-IN" sz="1600" b="1" dirty="0"/>
              <a:t>2. Airbnb Management </a:t>
            </a:r>
          </a:p>
          <a:p>
            <a:pPr marL="0" indent="0" algn="just">
              <a:buNone/>
            </a:pPr>
            <a:r>
              <a:rPr lang="en-IN" sz="1600" dirty="0"/>
              <a:t>    Can</a:t>
            </a:r>
            <a:r>
              <a:rPr lang="en-IN" sz="1600" dirty="0">
                <a:ea typeface="+mn-lt"/>
                <a:cs typeface="+mn-lt"/>
              </a:rPr>
              <a:t> understand market trends and improve platform performance.</a:t>
            </a:r>
            <a:endParaRPr lang="en-IN" sz="1600" dirty="0"/>
          </a:p>
          <a:p>
            <a:pPr marL="0" indent="0" algn="just">
              <a:buNone/>
            </a:pPr>
            <a:r>
              <a:rPr lang="en-IN" sz="1600" b="1" dirty="0"/>
              <a:t>3. Guests/Travelers</a:t>
            </a:r>
          </a:p>
          <a:p>
            <a:pPr marL="0" indent="0" algn="just">
              <a:buNone/>
            </a:pPr>
            <a:r>
              <a:rPr lang="en-IN" sz="1600" dirty="0">
                <a:ea typeface="+mn-lt"/>
                <a:cs typeface="+mn-lt"/>
              </a:rPr>
              <a:t>    Can compare locations, room types, prices, and ratings before booking.</a:t>
            </a:r>
          </a:p>
          <a:p>
            <a:pPr marL="0" indent="0" algn="just">
              <a:buNone/>
            </a:pPr>
            <a:r>
              <a:rPr lang="en-IN" sz="1600" b="1" dirty="0"/>
              <a:t>4. Property Managers</a:t>
            </a:r>
          </a:p>
          <a:p>
            <a:pPr marL="0" indent="0" algn="just">
              <a:buNone/>
            </a:pPr>
            <a:r>
              <a:rPr lang="en-IN" sz="1600" dirty="0">
                <a:ea typeface="+mn-lt"/>
                <a:cs typeface="+mn-lt"/>
              </a:rPr>
              <a:t>    Can identify profitable locations and understand competitor listings.</a:t>
            </a:r>
          </a:p>
          <a:p>
            <a:pPr marL="0" indent="0" algn="just">
              <a:buNone/>
            </a:pPr>
            <a:r>
              <a:rPr lang="en-IN" sz="1600" b="1" dirty="0"/>
              <a:t>5. Data Analysts &amp; Researchers</a:t>
            </a:r>
          </a:p>
          <a:p>
            <a:pPr marL="0" indent="0" algn="just">
              <a:buNone/>
            </a:pPr>
            <a:r>
              <a:rPr lang="en-IN" sz="1600" dirty="0">
                <a:ea typeface="+mn-lt"/>
                <a:cs typeface="+mn-lt"/>
              </a:rPr>
              <a:t>    Can use Airbnb data to study hospitality and tourism trends</a:t>
            </a:r>
          </a:p>
          <a:p>
            <a:pPr algn="just"/>
            <a:endParaRPr lang="en-IN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86437-261B-ABF0-4C6F-FDFB88AB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rgbClr val="000000"/>
                </a:solidFill>
              </a:rPr>
              <a:t>Technology Used</a:t>
            </a:r>
            <a:endParaRPr lang="en-US" sz="48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10755-F9B0-17CA-2DBB-F03942B1B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1724725"/>
            <a:ext cx="4185623" cy="431663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1.Data Processing</a:t>
            </a:r>
            <a:endParaRPr lang="en-IN" sz="160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Microsoft Excel </a:t>
            </a:r>
            <a:endParaRPr lang="en-US" sz="16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Python </a:t>
            </a:r>
            <a:endParaRPr lang="en-IN" sz="16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Pandas </a:t>
            </a:r>
            <a:endParaRPr lang="en-IN" sz="16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NumPy </a:t>
            </a:r>
            <a:endParaRPr lang="en-IN" sz="1600" dirty="0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2.Data Visualization</a:t>
            </a:r>
            <a:endParaRPr lang="en-IN" sz="16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Matplotlib </a:t>
            </a:r>
            <a:endParaRPr lang="en-IN" sz="16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Seaborn </a:t>
            </a:r>
            <a:endParaRPr lang="en-IN" sz="16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Power BI / Tableau </a:t>
            </a:r>
            <a:endParaRPr lang="en-IN" sz="1600" dirty="0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1600" b="1" dirty="0">
              <a:solidFill>
                <a:srgbClr val="40404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1600">
              <a:solidFill>
                <a:srgbClr val="000000"/>
              </a:solidFill>
            </a:endParaRPr>
          </a:p>
          <a:p>
            <a:endParaRPr lang="en-IN" sz="1600" dirty="0">
              <a:solidFill>
                <a:srgbClr val="000000"/>
              </a:solidFill>
            </a:endParaRPr>
          </a:p>
          <a:p>
            <a:endParaRPr lang="en-US" sz="1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12CD84-1913-6B21-0F39-E89BB7F32F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88384" y="1839547"/>
            <a:ext cx="4185617" cy="420181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3.Analysis</a:t>
            </a:r>
            <a:endParaRPr lang="en-IN" sz="16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Exploratory Data Analysis (EDA) </a:t>
            </a:r>
            <a:endParaRPr lang="en-IN" sz="16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Statistical Analysis </a:t>
            </a:r>
            <a:endParaRPr lang="en-IN" sz="16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Correlation Analysis </a:t>
            </a:r>
            <a:endParaRPr lang="en-IN" sz="1600" dirty="0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4.Presentation</a:t>
            </a:r>
            <a:endParaRPr lang="en-IN" sz="16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Microsoft PowerPoint </a:t>
            </a:r>
            <a:endParaRPr lang="en-IN" sz="1600" dirty="0">
              <a:solidFill>
                <a:srgbClr val="000000"/>
              </a:solidFill>
            </a:endParaRPr>
          </a:p>
          <a:p>
            <a:endParaRPr lang="en-IN" sz="1600" dirty="0">
              <a:solidFill>
                <a:srgbClr val="000000"/>
              </a:solidFill>
            </a:endParaRPr>
          </a:p>
          <a:p>
            <a:endParaRPr lang="en-US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23083-06F6-DCA1-EA68-A16802D8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579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162000" y="6332429"/>
            <a:ext cx="6718573" cy="4865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1200" dirty="0">
                <a:solidFill>
                  <a:srgbClr val="F0F6FC"/>
                </a:solidFill>
                <a:highlight>
                  <a:srgbClr val="0D1117"/>
                </a:highlight>
                <a:ea typeface="+mj-lt"/>
                <a:cs typeface="+mj-lt"/>
              </a:rPr>
              <a:t> Demo Link :</a:t>
            </a:r>
            <a:r>
              <a:rPr lang="en-GB" sz="1200" u="sng" dirty="0">
                <a:solidFill>
                  <a:srgbClr val="4493F8"/>
                </a:solidFill>
                <a:highlight>
                  <a:srgbClr val="0D1117"/>
                </a:highlight>
                <a:ea typeface="+mj-lt"/>
                <a:cs typeface="+mj-lt"/>
                <a:hlinkClick r:id="rId3"/>
              </a:rPr>
              <a:t>https://charvandeshivani.github.io/Airbnb-Hotel-Booking-Analysis_project/</a:t>
            </a:r>
            <a:endParaRPr lang="en-US">
              <a:ea typeface="+mj-lt"/>
              <a:cs typeface="+mj-lt"/>
              <a:hlinkClick r:id="rId3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57953-9291-F019-7519-A0299F4C5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32" y="1212377"/>
            <a:ext cx="8217540" cy="40745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79CB84-B861-944A-570F-59AC20D0152E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"C:\Users\bhagatsing\Videos\dscx.mp4"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E5E27-4642-20B2-81A2-1DCC02A4D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0F395C-C630-8C83-9C09-352E13602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713" y="1229997"/>
            <a:ext cx="7870522" cy="438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163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8455" y="2933700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552</TotalTime>
  <Words>62</Words>
  <Application>Microsoft Office PowerPoint</Application>
  <PresentationFormat>Widescreen</PresentationFormat>
  <Paragraphs>17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Facet</vt:lpstr>
      <vt:lpstr>Project Title -Airbnb Hotel Booking Analysis </vt:lpstr>
      <vt:lpstr>PROBLEM  STATEMENT</vt:lpstr>
      <vt:lpstr>PROJECT DESCRICTION  The Airbnb Hotel Booking Analysis project uses an Airbnb Open Data dataset containing 102,599 listings and 26 attributes. The analysis involves:  Data Collection – Importing the Airbnb dataset.  Data Wrangling – Handling missing values, inconsistent values,     and data types.  Exploratory Data Analysis – Examining prices, reviews, locations, room types, and hosts.  Data Visualization – Creating charts and graphs to identify patterns.  Correlation Analysis – Studying relationships between numerical variables.  Insight Generation – Extracting useful business insights and recommendations.  Tools Used: Excel / Python / Pandas / Matplotlib / Seaborn / Power BI  </vt:lpstr>
      <vt:lpstr>PowerPoint Presentation</vt:lpstr>
      <vt:lpstr>PowerPoint Presentation</vt:lpstr>
      <vt:lpstr>WHO ARE THE END USERS?</vt:lpstr>
      <vt:lpstr>Technology Used </vt:lpstr>
      <vt:lpstr>RESULTS 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354</cp:revision>
  <dcterms:created xsi:type="dcterms:W3CDTF">2021-07-11T13:13:15Z</dcterms:created>
  <dcterms:modified xsi:type="dcterms:W3CDTF">2026-09-02T16:43:59Z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